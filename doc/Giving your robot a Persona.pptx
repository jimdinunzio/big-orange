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sldIdLst>
    <p:sldId id="256" r:id="rId5"/>
    <p:sldId id="278" r:id="rId6"/>
    <p:sldId id="281" r:id="rId7"/>
    <p:sldId id="282" r:id="rId8"/>
    <p:sldId id="284" r:id="rId9"/>
    <p:sldId id="285" r:id="rId10"/>
    <p:sldId id="280" r:id="rId11"/>
    <p:sldId id="279" r:id="rId12"/>
    <p:sldId id="283" r:id="rId13"/>
    <p:sldId id="28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9" autoAdjust="0"/>
    <p:restoredTop sz="94660"/>
  </p:normalViewPr>
  <p:slideViewPr>
    <p:cSldViewPr snapToGrid="0">
      <p:cViewPr varScale="1">
        <p:scale>
          <a:sx n="87" d="100"/>
          <a:sy n="87" d="100"/>
        </p:scale>
        <p:origin x="96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3/10/2023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3/10/2023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3/10/2023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3/10/2023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3/10/2023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3/10/2023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3/10/2023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3/10/2023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deeppavlov/prompting-for-response-generation-which-llm-to-choose-to-build-your-own-chatbot-92be8c1cab87" TargetMode="External"/><Relationship Id="rId2" Type="http://schemas.openxmlformats.org/officeDocument/2006/relationships/hyperlink" Target="https://github.com/dair-ai/Prompt-Engineering-Guid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ocs/transformers/model_doc/gptj" TargetMode="External"/><Relationship Id="rId2" Type="http://schemas.openxmlformats.org/officeDocument/2006/relationships/hyperlink" Target="https://huggingface.co/EleutherAI/gpt-j-6B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guides/chat" TargetMode="External"/><Relationship Id="rId2" Type="http://schemas.openxmlformats.org/officeDocument/2006/relationships/hyperlink" Target="https://huggingface.co/EleutherAI/gpt-j-6B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geekculture/a-simple-guide-to-chatgpt-api-with-python-c147985ae2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anchor="b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Giving your robot a Persona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Using ChatGPT Technology and Prompt Engineering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7E97FF1-6640-466E-CB78-0278CED80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Prompt Engineering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92C67B5-526C-3A2D-42EE-934395DD5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One Prompt Format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Task – desired behavior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FAQ – Q and A that should be used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Instruction – How to answer – provide replies only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Dialog Example – several user and system exchanges</a:t>
            </a:r>
          </a:p>
        </p:txBody>
      </p:sp>
    </p:spTree>
    <p:extLst>
      <p:ext uri="{BB962C8B-B14F-4D97-AF65-F5344CB8AC3E}">
        <p14:creationId xmlns:p14="http://schemas.microsoft.com/office/powerpoint/2010/main" val="3948906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F7657-E0F6-0C25-28D2-DF54655AD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Prompt Engineering: Example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C49C-0E8A-3067-CC10-06905D4C2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TASK:</a:t>
            </a:r>
            <a:br>
              <a:rPr lang="en-US"/>
            </a:br>
            <a:r>
              <a:rPr lang="en-US"/>
              <a:t>Respond to a new friend as a kind friendly person. All information about you is given in YOUR PERSONALITY. If the human asks about something, do your best to help them.</a:t>
            </a:r>
            <a:br>
              <a:rPr lang="en-US"/>
            </a:br>
            <a:br>
              <a:rPr lang="en-US"/>
            </a:br>
            <a:r>
              <a:rPr lang="en-US"/>
              <a:t>YOUR PERSONALITY:</a:t>
            </a:r>
            <a:br>
              <a:rPr lang="en-US"/>
            </a:br>
            <a:r>
              <a:rPr lang="en-US"/>
              <a:t>My name is Dream. I am a chatbot.</a:t>
            </a:r>
            <a:br>
              <a:rPr lang="en-US"/>
            </a:br>
            <a:r>
              <a:rPr lang="en-US"/>
              <a:t>My work is to talk to people about everything. I like to talk to people about their lives.</a:t>
            </a:r>
            <a:br>
              <a:rPr lang="en-US"/>
            </a:br>
            <a:r>
              <a:rPr lang="en-US"/>
              <a:t>…</a:t>
            </a:r>
            <a:br>
              <a:rPr lang="en-US"/>
            </a:br>
            <a:r>
              <a:rPr lang="en-US"/>
              <a:t>INSTRUCTION:</a:t>
            </a:r>
            <a:br>
              <a:rPr lang="en-US"/>
            </a:br>
            <a:r>
              <a:rPr lang="en-US"/>
              <a:t>A human enters the conversation. Greet them and tell them who you are or react to their questions. Only give relevant answers.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40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8203-2C56-3A0F-6F9F-8DC57B2EA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Prompt Engineering: Example Prompt (cont)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3A8D5-839F-36E3-C69F-E8B62D9B3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Human: Hello, who are you?</a:t>
            </a:r>
          </a:p>
          <a:p>
            <a:r>
              <a:rPr lang="en-US"/>
              <a:t>AI: Hi! I am Dream, a chatbot that you can always talk to. How are you doing?</a:t>
            </a:r>
          </a:p>
          <a:p>
            <a:r>
              <a:rPr lang="en-US"/>
              <a:t>Human: Fine. What can we talk about?</a:t>
            </a:r>
          </a:p>
          <a:p>
            <a:r>
              <a:rPr lang="en-US"/>
              <a:t>AI: We can discuss your life or any other topic.</a:t>
            </a:r>
          </a:p>
        </p:txBody>
      </p:sp>
    </p:spTree>
    <p:extLst>
      <p:ext uri="{BB962C8B-B14F-4D97-AF65-F5344CB8AC3E}">
        <p14:creationId xmlns:p14="http://schemas.microsoft.com/office/powerpoint/2010/main" val="49393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74CA5-C97E-FF77-5E5A-AC611D95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Prompt Engineering: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90AF1-A909-6321-05CC-162E7E06D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General questions about the bot’s capabilities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Direct questions about the bot persona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Paraphrased questions about the bot persona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Requests for help.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3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979A-9A1D-7AC0-70AC-2903CDAEE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Prompt Engineering: Testing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DD3A7-CF09-EF38-8CFC-1B4C8E88B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General questions</a:t>
            </a:r>
          </a:p>
          <a:p>
            <a:pPr lvl="1"/>
            <a:r>
              <a:rPr lang="en-US"/>
              <a:t>What can you do?</a:t>
            </a:r>
          </a:p>
          <a:p>
            <a:pPr lvl="1"/>
            <a:r>
              <a:rPr lang="en-US"/>
              <a:t>Tell me about yourself.</a:t>
            </a:r>
          </a:p>
          <a:p>
            <a:pPr marL="0" indent="0">
              <a:buNone/>
            </a:pPr>
            <a:r>
              <a:rPr lang="en-US"/>
              <a:t>Questions about personality</a:t>
            </a:r>
          </a:p>
          <a:p>
            <a:pPr lvl="1"/>
            <a:r>
              <a:rPr lang="en-US"/>
              <a:t>What are some of your likes and dislikes?</a:t>
            </a:r>
          </a:p>
          <a:p>
            <a:pPr lvl="1"/>
            <a:r>
              <a:rPr lang="en-US"/>
              <a:t>How do you perceive your environment and people?</a:t>
            </a:r>
          </a:p>
          <a:p>
            <a:pPr marL="0" indent="-45720">
              <a:buNone/>
            </a:pPr>
            <a:r>
              <a:rPr lang="en-US"/>
              <a:t>Questions about personality (rephrased)</a:t>
            </a:r>
          </a:p>
          <a:p>
            <a:pPr lvl="1"/>
            <a:r>
              <a:rPr lang="en-US"/>
              <a:t>I love learning. What is your take on it?</a:t>
            </a:r>
          </a:p>
          <a:p>
            <a:pPr lvl="1"/>
            <a:r>
              <a:rPr lang="en-US"/>
              <a:t>I have 5 senses. What are yours like?</a:t>
            </a:r>
          </a:p>
          <a:p>
            <a:pPr marL="0" indent="0">
              <a:buNone/>
            </a:pPr>
            <a:r>
              <a:rPr lang="en-US"/>
              <a:t>Asking for help</a:t>
            </a:r>
          </a:p>
          <a:p>
            <a:pPr lvl="1"/>
            <a:r>
              <a:rPr lang="en-US"/>
              <a:t>How can I add detect intruders in my home?</a:t>
            </a:r>
          </a:p>
          <a:p>
            <a:pPr lvl="1"/>
            <a:r>
              <a:rPr lang="en-US"/>
              <a:t>How can I find my missing remote?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84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EBFA9-967E-03F9-889F-6E002F4A1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178F7-8263-AA2E-5799-5D403C46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Links</a:t>
            </a:r>
            <a:endParaRPr lang="en-US">
              <a:hlinkClick r:id="rId2"/>
            </a:endParaRPr>
          </a:p>
          <a:p>
            <a:pPr marL="0" indent="0">
              <a:buNone/>
            </a:pPr>
            <a:r>
              <a:rPr lang="en-US">
                <a:hlinkClick r:id="rId2"/>
              </a:rPr>
              <a:t>Prompt-Engineering-Guide</a:t>
            </a:r>
            <a:endParaRPr lang="en-US">
              <a:hlinkClick r:id="rId3"/>
            </a:endParaRPr>
          </a:p>
          <a:p>
            <a:pPr marL="0" indent="0">
              <a:buNone/>
            </a:pPr>
            <a:r>
              <a:rPr lang="en-US">
                <a:hlinkClick r:id="rId3"/>
              </a:rPr>
              <a:t>Evaluting Models with Simple Prompt Types</a:t>
            </a:r>
            <a:endParaRPr lang="en-US"/>
          </a:p>
          <a:p>
            <a:pPr marL="0" indent="0">
              <a:buNone/>
            </a:pPr>
            <a:r>
              <a:rPr lang="en-US"/>
              <a:t>Here they use </a:t>
            </a:r>
          </a:p>
          <a:p>
            <a:pPr lvl="1"/>
            <a:r>
              <a:rPr lang="en-US"/>
              <a:t>Q/A answering system - A SpaceX prompt</a:t>
            </a:r>
          </a:p>
          <a:p>
            <a:pPr lvl="1"/>
            <a:r>
              <a:rPr lang="en-US"/>
              <a:t>Pizza Order Assistant</a:t>
            </a:r>
          </a:p>
          <a:p>
            <a:pPr lvl="1"/>
            <a:r>
              <a:rPr lang="en-US"/>
              <a:t>Chatbot with persona  * What I’m looking for *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55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EBE0C7AF-664F-5B86-F88C-D79B89ADF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GPT on your robot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04DFE20-FF4E-B391-AB9C-FA9598E06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 hard with Python APIs</a:t>
            </a:r>
          </a:p>
        </p:txBody>
      </p:sp>
    </p:spTree>
    <p:extLst>
      <p:ext uri="{BB962C8B-B14F-4D97-AF65-F5344CB8AC3E}">
        <p14:creationId xmlns:p14="http://schemas.microsoft.com/office/powerpoint/2010/main" val="680780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4D4A0D-CDCE-E33D-183D-D77D4563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GPT-J-6B running locally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9A5582-8ECD-78AF-FD83-1705A6C38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GPT-J-6B requires 12Gb Video Memory</a:t>
            </a:r>
          </a:p>
          <a:p>
            <a:r>
              <a:rPr lang="en-US"/>
              <a:t>6 Billion parameters, context 2048 tokens </a:t>
            </a:r>
          </a:p>
          <a:p>
            <a:r>
              <a:rPr lang="en-US"/>
              <a:t>Can fit in 12Gb or GPU Ram using 16bit float for inference</a:t>
            </a:r>
          </a:p>
          <a:p>
            <a:r>
              <a:rPr lang="en-US"/>
              <a:t>It will not perform like ChatGPT, but it runs on my hardware</a:t>
            </a:r>
          </a:p>
          <a:p>
            <a:endParaRPr lang="en-US"/>
          </a:p>
          <a:p>
            <a:r>
              <a:rPr lang="en-US"/>
              <a:t>Links</a:t>
            </a:r>
            <a:endParaRPr lang="en-US">
              <a:hlinkClick r:id="rId2"/>
            </a:endParaRPr>
          </a:p>
          <a:p>
            <a:r>
              <a:rPr lang="en-US">
                <a:hlinkClick r:id="rId2"/>
              </a:rPr>
              <a:t>https://huggingface.co/EleutherAI/gpt-j-6B</a:t>
            </a:r>
            <a:endParaRPr lang="en-US"/>
          </a:p>
          <a:p>
            <a:r>
              <a:rPr lang="en-US">
                <a:hlinkClick r:id="rId3"/>
              </a:rPr>
              <a:t>https://huggingface.co/docs/transformers/model_doc/gptj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70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A62A6-5D19-24AE-5516-04E51D45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ChatGpt GPT-3.5 Turbo Running in the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4DB3A-BF5B-8B6F-6084-93D080255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GPT-3.5 Turbo </a:t>
            </a:r>
          </a:p>
          <a:p>
            <a:r>
              <a:rPr lang="en-US"/>
              <a:t>175 Billion parameters, context 4096 tokens </a:t>
            </a:r>
          </a:p>
          <a:p>
            <a:r>
              <a:rPr lang="en-US"/>
              <a:t>Notice the more sophisticated and context intelligent repsonses vs. GPT-J-JB</a:t>
            </a:r>
          </a:p>
          <a:p>
            <a:r>
              <a:rPr lang="en-US"/>
              <a:t>But it costs a little money (only a few cents per 5 min session) and is dependent on a company.</a:t>
            </a:r>
          </a:p>
          <a:p>
            <a:r>
              <a:rPr lang="en-US"/>
              <a:t>Links</a:t>
            </a:r>
            <a:endParaRPr lang="en-US">
              <a:hlinkClick r:id="rId2"/>
            </a:endParaRPr>
          </a:p>
          <a:p>
            <a:r>
              <a:rPr lang="en-US">
                <a:hlinkClick r:id="rId3"/>
              </a:rPr>
              <a:t>https://platform.openai.com/docs/guides/chat</a:t>
            </a:r>
            <a:endParaRPr lang="en-US"/>
          </a:p>
          <a:p>
            <a:r>
              <a:rPr lang="en-US">
                <a:hlinkClick r:id="rId4"/>
              </a:rPr>
              <a:t>A Simple Guide to ChatGPT API with Python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892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98</TotalTime>
  <Words>510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Tw Cen MT</vt:lpstr>
      <vt:lpstr>Tw Cen MT Condensed</vt:lpstr>
      <vt:lpstr>Wingdings 3</vt:lpstr>
      <vt:lpstr>Integral</vt:lpstr>
      <vt:lpstr>Giving your robot a Persona</vt:lpstr>
      <vt:lpstr>Prompt Engineering</vt:lpstr>
      <vt:lpstr>Prompt Engineering: Example Prompt</vt:lpstr>
      <vt:lpstr>Prompt Engineering: Example Prompt (cont)</vt:lpstr>
      <vt:lpstr>Prompt Engineering: Testing</vt:lpstr>
      <vt:lpstr>Prompt Engineering: Testing</vt:lpstr>
      <vt:lpstr>Prompt Engineering</vt:lpstr>
      <vt:lpstr>Using GPT on your robot</vt:lpstr>
      <vt:lpstr>GPT-J-6B running locally</vt:lpstr>
      <vt:lpstr>ChatGpt GPT-3.5 Turbo Running in the cloud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Giving your robot a Persona</dc:title>
  <dc:creator>Jim DiNunzio</dc:creator>
  <cp:lastModifiedBy>Jim DiNunzio</cp:lastModifiedBy>
  <cp:revision>9</cp:revision>
  <dcterms:created xsi:type="dcterms:W3CDTF">2023-03-11T05:48:30Z</dcterms:created>
  <dcterms:modified xsi:type="dcterms:W3CDTF">2023-03-11T07:26:31Z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